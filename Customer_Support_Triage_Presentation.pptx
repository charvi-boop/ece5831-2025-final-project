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embeddedFontLst>
    <p:embeddedFont>
      <p:font typeface="Average"/>
      <p:regular r:id="rId19"/>
    </p:embeddedFont>
    <p:embeddedFont>
      <p:font typeface="Oswald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iqKCdPq7BJv5yPkDfrh3P5lgpY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regular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Oswa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verage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0723416bf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0723416b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0723416b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b0723416bf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0723416bf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b0723416b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0723416bf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b0723416b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g3b0704054c4_0_658"/>
          <p:cNvGrpSpPr/>
          <p:nvPr/>
        </p:nvGrpSpPr>
        <p:grpSpPr>
          <a:xfrm>
            <a:off x="4350279" y="3807170"/>
            <a:ext cx="443589" cy="140843"/>
            <a:chOff x="4137525" y="2915950"/>
            <a:chExt cx="869100" cy="207000"/>
          </a:xfrm>
        </p:grpSpPr>
        <p:sp>
          <p:nvSpPr>
            <p:cNvPr id="11" name="Google Shape;11;g3b0704054c4_0_658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g3b0704054c4_0_658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g3b0704054c4_0_658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g3b0704054c4_0_658"/>
          <p:cNvSpPr txBox="1"/>
          <p:nvPr>
            <p:ph type="ctrTitle"/>
          </p:nvPr>
        </p:nvSpPr>
        <p:spPr>
          <a:xfrm>
            <a:off x="671258" y="1321067"/>
            <a:ext cx="7801500" cy="230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g3b0704054c4_0_658"/>
          <p:cNvSpPr txBox="1"/>
          <p:nvPr>
            <p:ph idx="1" type="subTitle"/>
          </p:nvPr>
        </p:nvSpPr>
        <p:spPr>
          <a:xfrm>
            <a:off x="671250" y="4233168"/>
            <a:ext cx="78015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g3b0704054c4_0_658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b0704054c4_0_666"/>
          <p:cNvSpPr txBox="1"/>
          <p:nvPr>
            <p:ph type="title"/>
          </p:nvPr>
        </p:nvSpPr>
        <p:spPr>
          <a:xfrm>
            <a:off x="671250" y="2855000"/>
            <a:ext cx="7852200" cy="11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g3b0704054c4_0_666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b0704054c4_0_66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g3b0704054c4_0_66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g3b0704054c4_0_669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b0704054c4_0_67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g3b0704054c4_0_673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g3b0704054c4_0_673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g3b0704054c4_0_673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b0704054c4_0_67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g3b0704054c4_0_678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b0704054c4_0_681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g3b0704054c4_0_681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g3b0704054c4_0_681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b0704054c4_0_685"/>
          <p:cNvSpPr txBox="1"/>
          <p:nvPr>
            <p:ph type="title"/>
          </p:nvPr>
        </p:nvSpPr>
        <p:spPr>
          <a:xfrm>
            <a:off x="490250" y="701800"/>
            <a:ext cx="62271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g3b0704054c4_0_685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b0704054c4_0_688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g3b0704054c4_0_688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g3b0704054c4_0_688"/>
          <p:cNvSpPr txBox="1"/>
          <p:nvPr>
            <p:ph type="title"/>
          </p:nvPr>
        </p:nvSpPr>
        <p:spPr>
          <a:xfrm>
            <a:off x="265500" y="1441867"/>
            <a:ext cx="4045200" cy="228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g3b0704054c4_0_688"/>
          <p:cNvSpPr txBox="1"/>
          <p:nvPr>
            <p:ph idx="1" type="subTitle"/>
          </p:nvPr>
        </p:nvSpPr>
        <p:spPr>
          <a:xfrm>
            <a:off x="265500" y="3793601"/>
            <a:ext cx="4045200" cy="17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g3b0704054c4_0_688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g3b0704054c4_0_688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b0704054c4_0_695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g3b0704054c4_0_695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b0704054c4_0_698"/>
          <p:cNvSpPr txBox="1"/>
          <p:nvPr>
            <p:ph hasCustomPrompt="1" type="title"/>
          </p:nvPr>
        </p:nvSpPr>
        <p:spPr>
          <a:xfrm>
            <a:off x="311700" y="1673700"/>
            <a:ext cx="8520600" cy="252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3b0704054c4_0_698"/>
          <p:cNvSpPr txBox="1"/>
          <p:nvPr>
            <p:ph idx="1" type="body"/>
          </p:nvPr>
        </p:nvSpPr>
        <p:spPr>
          <a:xfrm>
            <a:off x="311700" y="43045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g3b0704054c4_0_698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b0704054c4_0_702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0704054c4_0_70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7" name="Google Shape;57;g3b0704054c4_0_70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8" name="Google Shape;58;g3b0704054c4_0_70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g3b0704054c4_0_70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g3b0704054c4_0_70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b0704054c4_0_65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g3b0704054c4_0_65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g3b0704054c4_0_654"/>
          <p:cNvSpPr txBox="1"/>
          <p:nvPr>
            <p:ph idx="12" type="sldNum"/>
          </p:nvPr>
        </p:nvSpPr>
        <p:spPr>
          <a:xfrm>
            <a:off x="8490250" y="6241346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/>
          <p:nvPr>
            <p:ph type="title"/>
          </p:nvPr>
        </p:nvSpPr>
        <p:spPr>
          <a:xfrm>
            <a:off x="457200" y="987404"/>
            <a:ext cx="8229600" cy="15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latin typeface="Times New Roman"/>
                <a:ea typeface="Times New Roman"/>
                <a:cs typeface="Times New Roman"/>
                <a:sym typeface="Times New Roman"/>
              </a:rPr>
              <a:t>Intelligent Triage of Customer Support Ticket </a:t>
            </a:r>
            <a:endParaRPr b="1" sz="3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1"/>
          <p:cNvSpPr txBox="1"/>
          <p:nvPr>
            <p:ph idx="1" type="body"/>
          </p:nvPr>
        </p:nvSpPr>
        <p:spPr>
          <a:xfrm>
            <a:off x="457200" y="2332923"/>
            <a:ext cx="8229600" cy="37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Shreyas Katale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Charvi Rathod 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Nikhil Patil 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 txBox="1"/>
          <p:nvPr>
            <p:ph type="title"/>
          </p:nvPr>
        </p:nvSpPr>
        <p:spPr>
          <a:xfrm>
            <a:off x="457200" y="1095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400">
                <a:latin typeface="Times New Roman"/>
                <a:ea typeface="Times New Roman"/>
                <a:cs typeface="Times New Roman"/>
                <a:sym typeface="Times New Roman"/>
              </a:rPr>
              <a:t>Introduction and </a:t>
            </a: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3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457200" y="1202975"/>
            <a:ext cx="8229600" cy="52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10000"/>
          </a:bodyPr>
          <a:lstStyle/>
          <a:p>
            <a:pPr indent="-336867" lvl="0" marL="342900" rtl="0" algn="l">
              <a:spcBef>
                <a:spcPts val="0"/>
              </a:spcBef>
              <a:spcAft>
                <a:spcPts val="0"/>
              </a:spcAft>
              <a:buSzPct val="91666"/>
              <a:buFont typeface="Arial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project focuses on automatically classifying customer support tickets into correct product categories. We compare a traditional machine learning model with a fine-tuned Large Language Model to improve accuracy and efficiency.</a:t>
            </a:r>
            <a:endParaRPr b="1"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967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b="1" lang="en-US" sz="2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The Context:</a:t>
            </a: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Modern service companies receive thousands of unstructured support tickets daily.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867" lvl="0" marL="34290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n-US" sz="2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The Impact:</a:t>
            </a:r>
            <a:endParaRPr b="1" sz="22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717" lvl="1" marL="74295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TTR: Increased Time-to-Resolution.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717" lvl="1" marL="74295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 CSAT: Frustrated customers waiting for the right department.</a:t>
            </a:r>
            <a:endParaRPr b="1" sz="22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867" lvl="0" marL="34290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n-US" sz="2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The Problem:</a:t>
            </a: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"Triage" (sorting) is currently a manual bottleneck.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717" lvl="1" marL="74295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Human agents must read, understand, and route every email.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717" lvl="1" marL="74295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 is slow, expensive and prone to human error.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967" lvl="0" marL="3429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b="1" lang="en-US" sz="2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The Goal:</a:t>
            </a: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Automate this process by building an AI that can classify complaints into 20 specific financial product categories (e.g., Mortgage, Fraud, Student Loans) with human-level accuracy.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Overview</a:t>
            </a:r>
            <a:endParaRPr sz="3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used the Consumer Financial Protection Bureau (CFPB) dataset for this project. 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https://www.consumerfinance.gov/data-research/consumer-complaint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dataset contains real-world customer complaint narratives written in natural language.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complaint describes an issue faced by a customer in detail.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Every complaint is labeled with a specific financial product category.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labeled complaints help train and test our classification models.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 txBox="1"/>
          <p:nvPr>
            <p:ph type="title"/>
          </p:nvPr>
        </p:nvSpPr>
        <p:spPr>
          <a:xfrm>
            <a:off x="457200" y="3963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Details</a:t>
            </a:r>
            <a:endParaRPr sz="3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5"/>
          <p:cNvSpPr txBox="1"/>
          <p:nvPr>
            <p:ph idx="1" type="body"/>
          </p:nvPr>
        </p:nvSpPr>
        <p:spPr>
          <a:xfrm>
            <a:off x="457200" y="1600200"/>
            <a:ext cx="8229600" cy="47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10000"/>
          </a:bodyPr>
          <a:lstStyle/>
          <a:p>
            <a:pPr indent="-336867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-US" sz="2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Input (X):</a:t>
            </a: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Consumer complaint narrative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86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○"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Characteristics: Unstructured, variable length, contains typos, emotional language, and redacted PII (e.g., "XXXX").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867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-US" sz="2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Target (Y):</a:t>
            </a: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Product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86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○"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Taxonomy: 20 distinct financial categories (e.g., Mortgage, Debt Collection, Credit Card).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867" lvl="0" marL="457200" rtl="0" algn="l"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2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Scale &amp; Sampling:</a:t>
            </a:r>
            <a:endParaRPr sz="22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86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○"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Raw Data: More than 2 </a:t>
            </a: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Million</a:t>
            </a: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rows (Too large for rapid prototyping).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86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○"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Our Subset: Stratified sample of 100,000 records to ensure representation of rare classes.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867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-US" sz="22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The Challenge:</a:t>
            </a: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Extreme Class Imbalance.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86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○"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 Class: "Credit Reporting" (~50% of data).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86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○"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Minority Classes: "Student Loan" (&lt;5% of data).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86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○"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We used Stratified Splitting to ensure our validation set was statistically valid.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Analysis</a:t>
            </a:r>
            <a:endParaRPr sz="3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6"/>
          <p:cNvSpPr txBox="1"/>
          <p:nvPr>
            <p:ph idx="1" type="body"/>
          </p:nvPr>
        </p:nvSpPr>
        <p:spPr>
          <a:xfrm>
            <a:off x="166875" y="1600200"/>
            <a:ext cx="36159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33560" lvl="0" marL="34290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26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dataset has class imbalance, meaning some product categories have many more samples than others.</a:t>
            </a:r>
            <a:endParaRPr sz="264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560" lvl="0" marL="342900" rtl="0" algn="l"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26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Popular products like credit reporting and mortgages appear more frequently in the data.</a:t>
            </a:r>
            <a:endParaRPr sz="264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560" lvl="0" marL="342900" rtl="0" algn="l"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26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Less common products have fewer complaint records available.</a:t>
            </a:r>
            <a:endParaRPr sz="264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3560" lvl="0" marL="342900" rtl="0" algn="l"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US" sz="26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Because of this imbalance, accuracy alone is not a reliable metric.</a:t>
            </a:r>
            <a:endParaRPr sz="264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7975" lvl="0" marL="342900" rtl="0" algn="l">
              <a:spcBef>
                <a:spcPts val="1000"/>
              </a:spcBef>
              <a:spcAft>
                <a:spcPts val="0"/>
              </a:spcAft>
              <a:buSzPct val="75623"/>
              <a:buFont typeface="Arial"/>
              <a:buChar char="●"/>
            </a:pPr>
            <a:r>
              <a:rPr lang="en-US" sz="26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use </a:t>
            </a:r>
            <a:r>
              <a:rPr b="1" lang="en-US" sz="26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Weighted F1-score</a:t>
            </a:r>
            <a:r>
              <a:rPr lang="en-US" sz="264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fairly evaluate model performance across all classes.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9700" y="1965050"/>
            <a:ext cx="5130600" cy="379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 txBox="1"/>
          <p:nvPr>
            <p:ph type="title"/>
          </p:nvPr>
        </p:nvSpPr>
        <p:spPr>
          <a:xfrm>
            <a:off x="457200" y="25726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Baseline Model</a:t>
            </a:r>
            <a:endParaRPr sz="3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7"/>
          <p:cNvSpPr txBox="1"/>
          <p:nvPr>
            <p:ph idx="1" type="body"/>
          </p:nvPr>
        </p:nvSpPr>
        <p:spPr>
          <a:xfrm>
            <a:off x="457200" y="2445925"/>
            <a:ext cx="8229600" cy="39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Why a Baseline?</a:t>
            </a:r>
            <a:endParaRPr b="1" sz="16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quantify the true value of the LLM. If a simple model gets 90% accuracy, complex AI is unnecessary.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Feature Extraction: TF-IDF (Term Frequency-Inverse Document Frequency)</a:t>
            </a:r>
            <a:endParaRPr b="1" sz="16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Converts text into numerical vectors.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Logic: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Penalizes common words ("the", "is") and rewards rare, meaningful words ("foreclosure", "overdraft").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Configuration: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Removed English stop-words; capped at </a:t>
            </a: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5,000 features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prevent overfitting.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The Classifier: Logistic Regression</a:t>
            </a:r>
            <a:endParaRPr b="1" sz="16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Type: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Multinomial (One-vs-Rest) for 18 classes.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Strengths: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Fast training (&lt;2 mins), highly interpretable, and computationally cheap.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462425" y="1515875"/>
            <a:ext cx="964800" cy="53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verage"/>
                <a:ea typeface="Average"/>
                <a:cs typeface="Average"/>
                <a:sym typeface="Average"/>
              </a:rPr>
              <a:t>Raw Text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1774900" y="1498475"/>
            <a:ext cx="1251600" cy="56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verage"/>
                <a:ea typeface="Average"/>
                <a:cs typeface="Average"/>
                <a:sym typeface="Average"/>
              </a:rPr>
              <a:t>TF-IDF Vectorizer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3374175" y="1468025"/>
            <a:ext cx="1599300" cy="62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verage"/>
                <a:ea typeface="Average"/>
                <a:cs typeface="Average"/>
                <a:sym typeface="Average"/>
              </a:rPr>
              <a:t>Sparse Matrix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5269100" y="1446275"/>
            <a:ext cx="1599300" cy="66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verage"/>
                <a:ea typeface="Average"/>
                <a:cs typeface="Average"/>
                <a:sym typeface="Average"/>
              </a:rPr>
              <a:t>Logistic Regression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7329125" y="1554875"/>
            <a:ext cx="1190700" cy="45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verage"/>
                <a:ea typeface="Average"/>
                <a:cs typeface="Average"/>
                <a:sym typeface="Average"/>
              </a:rPr>
              <a:t>Probability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103" name="Google Shape;103;p7"/>
          <p:cNvCxnSpPr>
            <a:stCxn id="98" idx="3"/>
            <a:endCxn id="99" idx="1"/>
          </p:cNvCxnSpPr>
          <p:nvPr/>
        </p:nvCxnSpPr>
        <p:spPr>
          <a:xfrm>
            <a:off x="1427225" y="1780925"/>
            <a:ext cx="347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" name="Google Shape;104;p7"/>
          <p:cNvCxnSpPr>
            <a:stCxn id="99" idx="3"/>
            <a:endCxn id="100" idx="1"/>
          </p:cNvCxnSpPr>
          <p:nvPr/>
        </p:nvCxnSpPr>
        <p:spPr>
          <a:xfrm>
            <a:off x="3026500" y="1780925"/>
            <a:ext cx="347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" name="Google Shape;105;p7"/>
          <p:cNvCxnSpPr>
            <a:stCxn id="100" idx="3"/>
            <a:endCxn id="101" idx="1"/>
          </p:cNvCxnSpPr>
          <p:nvPr/>
        </p:nvCxnSpPr>
        <p:spPr>
          <a:xfrm>
            <a:off x="4973475" y="1780925"/>
            <a:ext cx="295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" name="Google Shape;106;p7"/>
          <p:cNvCxnSpPr>
            <a:stCxn id="101" idx="3"/>
            <a:endCxn id="102" idx="1"/>
          </p:cNvCxnSpPr>
          <p:nvPr/>
        </p:nvCxnSpPr>
        <p:spPr>
          <a:xfrm>
            <a:off x="6868400" y="1780925"/>
            <a:ext cx="460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0723416bf_0_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Times New Roman"/>
                <a:ea typeface="Times New Roman"/>
                <a:cs typeface="Times New Roman"/>
                <a:sym typeface="Times New Roman"/>
              </a:rPr>
              <a:t>Baseline Results &amp; Limitations</a:t>
            </a:r>
            <a:endParaRPr sz="3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g3b0723416bf_0_1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Results: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lang="en-US" sz="16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Overall Score: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Weighted F1-Score of </a:t>
            </a: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0.7300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lang="en-US" sz="16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Training Time: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&lt; 5 Minutes (on CPU).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lang="en-US" sz="16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Where it Excelled:</a:t>
            </a:r>
            <a:endParaRPr b="1" sz="16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Simple, keyword-heavy categories (e.g., "Mortgage" -&gt; detected word "escrow").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lang="en-US" sz="16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Where it Failed (The "Context Gap"):</a:t>
            </a:r>
            <a:endParaRPr b="1" sz="16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Negation: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Cannot distinguish </a:t>
            </a:r>
            <a:r>
              <a:rPr i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"I am happy"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from </a:t>
            </a:r>
            <a:r>
              <a:rPr i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"I am </a:t>
            </a:r>
            <a:r>
              <a:rPr b="1" i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i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happy"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(Bag-of-Words limitation).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Semantic Overlap: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Confused "Credit Card" vs. "Prepaid Card" because they share similar keywords.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Unseen Vocabulary: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Fails completely on slang or typos it hasn't seen during training.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"/>
          <p:cNvSpPr txBox="1"/>
          <p:nvPr>
            <p:ph type="title"/>
          </p:nvPr>
        </p:nvSpPr>
        <p:spPr>
          <a:xfrm>
            <a:off x="457200" y="1181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400">
                <a:latin typeface="Times New Roman"/>
                <a:ea typeface="Times New Roman"/>
                <a:cs typeface="Times New Roman"/>
                <a:sym typeface="Times New Roman"/>
              </a:rPr>
              <a:t>The AI Solution – Llama 3 &amp; QLoRA</a:t>
            </a:r>
            <a:endParaRPr sz="3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8"/>
          <p:cNvSpPr txBox="1"/>
          <p:nvPr>
            <p:ph idx="1" type="body"/>
          </p:nvPr>
        </p:nvSpPr>
        <p:spPr>
          <a:xfrm>
            <a:off x="358200" y="1150800"/>
            <a:ext cx="4213800" cy="54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The Model:</a:t>
            </a:r>
            <a:r>
              <a:rPr lang="en-US" sz="14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4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Meta-Llama-3-8B</a:t>
            </a:r>
            <a:endParaRPr b="1" sz="14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Selected for its state-of-the-art reasoning capabilities in the 7B-10B parameter class.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i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Problem: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Loading the full model requires ~16GB+ VRAM; training it requires &gt;60GB (impossible on our L4/T4 GPU).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The Solution: QLoRA (Quantized Low-Rank Adaptation)</a:t>
            </a:r>
            <a:endParaRPr b="1" sz="14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Quantization: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 compressed the base model weights from 16-bit to </a:t>
            </a: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4-bit precision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(nf4 data type), reducing memory usage by ~70%.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Frozen Weights: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core "brain" of Llama 3 is locked (frozen). We do </a:t>
            </a:r>
            <a:r>
              <a:rPr i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retrain it.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Adapter Layers: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 injected small, trainable matrices (adapters) into the attention layers. Only these tiny layers are updated during training.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The Result: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 successfully fine-tuned an 8B model using less than </a:t>
            </a: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6GB of VRAM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trainable parameters, effectively democratizing enterprise-grade AI.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64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2250" y="2187163"/>
            <a:ext cx="4267200" cy="2329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0723416bf_0_20"/>
          <p:cNvSpPr txBox="1"/>
          <p:nvPr>
            <p:ph type="title"/>
          </p:nvPr>
        </p:nvSpPr>
        <p:spPr>
          <a:xfrm>
            <a:off x="457200" y="1181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 Fine-Tuning Training Configuration &amp; Strategy</a:t>
            </a:r>
            <a:endParaRPr sz="3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g3b0723416bf_0_20"/>
          <p:cNvSpPr txBox="1"/>
          <p:nvPr>
            <p:ph idx="1" type="body"/>
          </p:nvPr>
        </p:nvSpPr>
        <p:spPr>
          <a:xfrm>
            <a:off x="540600" y="1426350"/>
            <a:ext cx="8062800" cy="51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Specifications: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FFFF00"/>
              </a:buClr>
              <a:buSzPts val="1500"/>
              <a:buFont typeface="Arial"/>
              <a:buChar char="●"/>
            </a:pPr>
            <a:r>
              <a:rPr b="1" lang="en-US" sz="15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Adapter Configuration (LoRA):</a:t>
            </a:r>
            <a:endParaRPr b="1" sz="15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b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Rank (r): 16</a:t>
            </a: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Controls the complexity of the new features.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b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Alpha (ɑ): 32</a:t>
            </a: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Scaling factor (how strongly the model 'listens' to new training).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b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 Modules:</a:t>
            </a: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q_proj, v_proj (Attention mechanisms).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1500"/>
              <a:buFont typeface="Arial"/>
              <a:buChar char="●"/>
            </a:pPr>
            <a:r>
              <a:rPr b="1" lang="en-US" sz="15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Training Hyperparameters:</a:t>
            </a:r>
            <a:endParaRPr b="1" sz="15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b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1,200 (approx. 1 epoch).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b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Batch Size:</a:t>
            </a: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 (with Gradient Accumulation = 8 →Effective Batch Size of 16).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b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Learning Rate:</a:t>
            </a: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2e-4 (standard for QLoRA).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1500"/>
              <a:buFont typeface="Arial"/>
              <a:buChar char="●"/>
            </a:pPr>
            <a:r>
              <a:rPr b="1" lang="en-US" sz="15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Prompt Engineering (Instruction Tuning):</a:t>
            </a:r>
            <a:endParaRPr b="1" sz="15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Formatted inputs to guide the model's reasoning: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i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Template:</a:t>
            </a: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"Classify the following consumer complaint into one of these 18 categories: [List]..."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converts the task from simple "prediction" to "instruction following."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64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"/>
          <p:cNvSpPr txBox="1"/>
          <p:nvPr>
            <p:ph type="title"/>
          </p:nvPr>
        </p:nvSpPr>
        <p:spPr>
          <a:xfrm>
            <a:off x="457200" y="834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sz="3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9"/>
          <p:cNvSpPr txBox="1"/>
          <p:nvPr>
            <p:ph idx="1" type="body"/>
          </p:nvPr>
        </p:nvSpPr>
        <p:spPr>
          <a:xfrm>
            <a:off x="158200" y="1289700"/>
            <a:ext cx="4511400" cy="50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Head-to-Head Performance:</a:t>
            </a:r>
            <a:endParaRPr b="1" sz="14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Baseline (TF-IDF):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0.7300 Weighted F1-Score.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Llama 3 (QLoRA):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0.7333 Weighted F1-Score.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i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Result: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LLM successfully matched and slightly exceeded the strong statistical baseline.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Data Efficiency:</a:t>
            </a:r>
            <a:endParaRPr b="1" sz="14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Baseline required the </a:t>
            </a: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entire dataset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(80,000 samples) to build its probability map.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Llama 3 achieved this performance after just </a:t>
            </a: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1,200 training steps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(approx. 20% of the data), leveraging its pre-trained knowledge.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Category-Level Analysis:</a:t>
            </a:r>
            <a:endParaRPr b="1" sz="14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Strong Performance: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"Mortgage" (F1: 0.90) and "Money Transfers" (F1: 0.89).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Challenges: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"Credit Card" vs. "Prepaid Card" (F1: 0.52). The model struggled with legacy categories that share near-identical vocabulary.</a:t>
            </a:r>
            <a:endParaRPr b="1" sz="6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2300" y="3754251"/>
            <a:ext cx="4221901" cy="2304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2300" y="1289700"/>
            <a:ext cx="4221901" cy="227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0723416bf_0_40"/>
          <p:cNvSpPr txBox="1"/>
          <p:nvPr>
            <p:ph type="title"/>
          </p:nvPr>
        </p:nvSpPr>
        <p:spPr>
          <a:xfrm>
            <a:off x="500675" y="2447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Times New Roman"/>
                <a:ea typeface="Times New Roman"/>
                <a:cs typeface="Times New Roman"/>
                <a:sym typeface="Times New Roman"/>
              </a:rPr>
              <a:t>DEMO</a:t>
            </a:r>
            <a:endParaRPr sz="3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 txBox="1"/>
          <p:nvPr>
            <p:ph type="title"/>
          </p:nvPr>
        </p:nvSpPr>
        <p:spPr>
          <a:xfrm>
            <a:off x="457200" y="1601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400">
                <a:latin typeface="Times New Roman"/>
                <a:ea typeface="Times New Roman"/>
                <a:cs typeface="Times New Roman"/>
                <a:sym typeface="Times New Roman"/>
              </a:rPr>
              <a:t>Conclusion &amp; Future Work</a:t>
            </a:r>
            <a:endParaRPr sz="3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0"/>
          <p:cNvSpPr txBox="1"/>
          <p:nvPr>
            <p:ph idx="1" type="body"/>
          </p:nvPr>
        </p:nvSpPr>
        <p:spPr>
          <a:xfrm>
            <a:off x="288575" y="1303200"/>
            <a:ext cx="4050600" cy="52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Takeaways: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Feasibility Proven: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 successfully fine-tuned an 8-billion parameter LLM on a single Cloud GPU using QLoRA, overcoming significant hardware constraints.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Efficiency Win: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Llama 3 model matched the statistical baseline's accuracy (F1: 0.7333) while requiring only ~20% of the training data exposure.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Business Impact: 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solution offers deep semantic understanding (context-awareness) that simple baselines lack, providing a robust foundation for automated customer support.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0"/>
          <p:cNvSpPr txBox="1"/>
          <p:nvPr/>
        </p:nvSpPr>
        <p:spPr>
          <a:xfrm>
            <a:off x="4572000" y="1303200"/>
            <a:ext cx="4182600" cy="48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Future Roadmap: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rgbClr val="FFFF00"/>
                </a:solidFill>
              </a:rPr>
              <a:t>Extended Training:</a:t>
            </a:r>
            <a:r>
              <a:rPr lang="en-US" sz="1600">
                <a:solidFill>
                  <a:schemeClr val="dk1"/>
                </a:solidFill>
              </a:rPr>
              <a:t> Increase training duration from 1,200 steps to 3 full epochs to potentially surpass 80% F1-score.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rgbClr val="FFFF00"/>
                </a:solidFill>
              </a:rPr>
              <a:t>RAG Integration:</a:t>
            </a:r>
            <a:r>
              <a:rPr lang="en-US" sz="1600">
                <a:solidFill>
                  <a:schemeClr val="dk1"/>
                </a:solidFill>
              </a:rPr>
              <a:t> Implement Retrieval-Augmented Generation to allow the model to cite specific company policies when routing tickets.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rgbClr val="FFFF00"/>
                </a:solidFill>
              </a:rPr>
              <a:t>Cloud Deployment:</a:t>
            </a:r>
            <a:r>
              <a:rPr lang="en-US" sz="1600">
                <a:solidFill>
                  <a:schemeClr val="dk1"/>
                </a:solidFill>
              </a:rPr>
              <a:t> Containerize the application (Docker) and deploy to a serverless endpoint (e.g., AWS SageMaker) for real-time, low-latency inference.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0723416bf_0_35"/>
          <p:cNvSpPr txBox="1"/>
          <p:nvPr>
            <p:ph type="title"/>
          </p:nvPr>
        </p:nvSpPr>
        <p:spPr>
          <a:xfrm>
            <a:off x="457200" y="2325963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3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